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Quicksand Bold" charset="1" panose="00000000000000000000"/>
      <p:regular r:id="rId19"/>
    </p:embeddedFont>
    <p:embeddedFont>
      <p:font typeface="Cabin Bold" charset="1" panose="00000800000000000000"/>
      <p:regular r:id="rId20"/>
    </p:embeddedFont>
    <p:embeddedFont>
      <p:font typeface="Quicksand" charset="1" panose="00000000000000000000"/>
      <p:regular r:id="rId21"/>
    </p:embeddedFont>
    <p:embeddedFont>
      <p:font typeface="Noto Sans" charset="1" panose="020B0502040504020204"/>
      <p:regular r:id="rId22"/>
    </p:embeddedFont>
    <p:embeddedFont>
      <p:font typeface="Bungee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5946858" y="-183507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8" y="0"/>
                </a:lnTo>
                <a:lnTo>
                  <a:pt x="41425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338774">
            <a:off x="14983505" y="7342162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4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4" y="5457044"/>
                </a:lnTo>
                <a:lnTo>
                  <a:pt x="32047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5461225">
            <a:off x="-54272" y="-2754869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3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3" y="5457044"/>
                </a:lnTo>
                <a:lnTo>
                  <a:pt x="320477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48115" y="2170152"/>
            <a:ext cx="1571118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b="true" sz="8000">
                <a:solidFill>
                  <a:srgbClr val="597EAA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XÂY DỰNG WEBSITE BÁN NỘT THẤT VĂN PHÒNG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91876" y="5590338"/>
            <a:ext cx="8106713" cy="194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3200" spc="32">
                <a:solidFill>
                  <a:srgbClr val="597EAA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SINH VIÊN THỰC HIỆN:</a:t>
            </a:r>
          </a:p>
          <a:p>
            <a:pPr algn="l">
              <a:lnSpc>
                <a:spcPts val="5280"/>
              </a:lnSpc>
            </a:pPr>
            <a:r>
              <a:rPr lang="en-US" b="true" sz="3200" spc="32">
                <a:solidFill>
                  <a:srgbClr val="597EAA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     NGUYỄN TẤN ĐẠT</a:t>
            </a:r>
          </a:p>
          <a:p>
            <a:pPr algn="l">
              <a:lnSpc>
                <a:spcPts val="5280"/>
              </a:lnSpc>
            </a:pPr>
            <a:r>
              <a:rPr lang="en-US" b="true" sz="3200" spc="32">
                <a:solidFill>
                  <a:srgbClr val="597EAA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     LÊ THỊ LY LY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75597" y="4787063"/>
            <a:ext cx="8736806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3500">
                <a:solidFill>
                  <a:srgbClr val="597EAA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GVHD: THS. TRẦN VĂN HÙNG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7210013" y="9384210"/>
            <a:ext cx="810158" cy="795302"/>
            <a:chOff x="0" y="0"/>
            <a:chExt cx="827983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7983" cy="812800"/>
            </a:xfrm>
            <a:custGeom>
              <a:avLst/>
              <a:gdLst/>
              <a:ahLst/>
              <a:cxnLst/>
              <a:rect r="r" b="b" t="t" l="l"/>
              <a:pathLst>
                <a:path h="812800" w="827983">
                  <a:moveTo>
                    <a:pt x="413992" y="0"/>
                  </a:moveTo>
                  <a:cubicBezTo>
                    <a:pt x="185350" y="0"/>
                    <a:pt x="0" y="181951"/>
                    <a:pt x="0" y="406400"/>
                  </a:cubicBezTo>
                  <a:cubicBezTo>
                    <a:pt x="0" y="630849"/>
                    <a:pt x="185350" y="812800"/>
                    <a:pt x="413992" y="812800"/>
                  </a:cubicBezTo>
                  <a:cubicBezTo>
                    <a:pt x="642633" y="812800"/>
                    <a:pt x="827983" y="630849"/>
                    <a:pt x="827983" y="406400"/>
                  </a:cubicBezTo>
                  <a:cubicBezTo>
                    <a:pt x="827983" y="181951"/>
                    <a:pt x="642633" y="0"/>
                    <a:pt x="413992" y="0"/>
                  </a:cubicBez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7623" y="28575"/>
              <a:ext cx="67273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225429" y="2098315"/>
            <a:ext cx="596267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b="true" sz="2400" spc="48">
                <a:solidFill>
                  <a:srgbClr val="000000"/>
                </a:solidFill>
                <a:latin typeface="Cabin Bold"/>
                <a:ea typeface="Cabin Bold"/>
                <a:cs typeface="Cabin Bold"/>
                <a:sym typeface="Cabin Bold"/>
              </a:rPr>
              <a:t>Công nghệ sử dụng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225429" y="6563126"/>
            <a:ext cx="596267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b="true" sz="2400" spc="48">
                <a:solidFill>
                  <a:srgbClr val="000000"/>
                </a:solidFill>
                <a:latin typeface="Cabin Bold"/>
                <a:ea typeface="Cabin Bold"/>
                <a:cs typeface="Cabin Bold"/>
                <a:sym typeface="Cabin Bold"/>
              </a:rPr>
              <a:t>Tài liệu tham khảo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44676" y="4103667"/>
            <a:ext cx="3751141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b="true" sz="6000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NỘI DUNG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072200" y="1881639"/>
            <a:ext cx="795302" cy="79530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6EA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67502" y="4180361"/>
            <a:ext cx="795302" cy="79530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EDAD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72200" y="6346450"/>
            <a:ext cx="795302" cy="79530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C9E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6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-1228127" y="7009495"/>
            <a:ext cx="1353448" cy="0"/>
          </a:xfrm>
          <a:prstGeom prst="line">
            <a:avLst/>
          </a:prstGeom>
          <a:ln cap="flat" w="2857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3385163" y="2098315"/>
            <a:ext cx="537819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b="true" sz="2400" spc="48">
                <a:solidFill>
                  <a:srgbClr val="000000"/>
                </a:solidFill>
                <a:latin typeface="Cabin Bold"/>
                <a:ea typeface="Cabin Bold"/>
                <a:cs typeface="Cabin Bold"/>
                <a:sym typeface="Cabin Bold"/>
              </a:rPr>
              <a:t>Bối cảnh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57785" y="4397030"/>
            <a:ext cx="537819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b="true" sz="2400" spc="48">
                <a:solidFill>
                  <a:srgbClr val="000000"/>
                </a:solidFill>
                <a:latin typeface="Cabin Bold"/>
                <a:ea typeface="Cabin Bold"/>
                <a:cs typeface="Cabin Bold"/>
                <a:sym typeface="Cabin Bold"/>
              </a:rPr>
              <a:t>Đối tượng sử dụng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50103" y="6563126"/>
            <a:ext cx="537819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b="true" sz="2400" spc="48">
                <a:solidFill>
                  <a:srgbClr val="000000"/>
                </a:solidFill>
                <a:latin typeface="Cabin Bold"/>
                <a:ea typeface="Cabin Bold"/>
                <a:cs typeface="Cabin Bold"/>
                <a:sym typeface="Cabin Bold"/>
              </a:rPr>
              <a:t>Tổng quan hệ thống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249444" y="1881639"/>
            <a:ext cx="810158" cy="795302"/>
            <a:chOff x="0" y="0"/>
            <a:chExt cx="827983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7983" cy="812800"/>
            </a:xfrm>
            <a:custGeom>
              <a:avLst/>
              <a:gdLst/>
              <a:ahLst/>
              <a:cxnLst/>
              <a:rect r="r" b="b" t="t" l="l"/>
              <a:pathLst>
                <a:path h="812800" w="827983">
                  <a:moveTo>
                    <a:pt x="413992" y="0"/>
                  </a:moveTo>
                  <a:cubicBezTo>
                    <a:pt x="185350" y="0"/>
                    <a:pt x="0" y="181951"/>
                    <a:pt x="0" y="406400"/>
                  </a:cubicBezTo>
                  <a:cubicBezTo>
                    <a:pt x="0" y="630849"/>
                    <a:pt x="185350" y="812800"/>
                    <a:pt x="413992" y="812800"/>
                  </a:cubicBezTo>
                  <a:cubicBezTo>
                    <a:pt x="642633" y="812800"/>
                    <a:pt x="827983" y="630849"/>
                    <a:pt x="827983" y="406400"/>
                  </a:cubicBezTo>
                  <a:cubicBezTo>
                    <a:pt x="827983" y="181951"/>
                    <a:pt x="642633" y="0"/>
                    <a:pt x="413992" y="0"/>
                  </a:cubicBezTo>
                  <a:close/>
                </a:path>
              </a:pathLst>
            </a:custGeom>
            <a:solidFill>
              <a:srgbClr val="86EAE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7623" y="28575"/>
              <a:ext cx="67273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39286" y="4180361"/>
            <a:ext cx="810158" cy="795302"/>
            <a:chOff x="0" y="0"/>
            <a:chExt cx="827983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27983" cy="812800"/>
            </a:xfrm>
            <a:custGeom>
              <a:avLst/>
              <a:gdLst/>
              <a:ahLst/>
              <a:cxnLst/>
              <a:rect r="r" b="b" t="t" l="l"/>
              <a:pathLst>
                <a:path h="812800" w="827983">
                  <a:moveTo>
                    <a:pt x="413992" y="0"/>
                  </a:moveTo>
                  <a:cubicBezTo>
                    <a:pt x="185350" y="0"/>
                    <a:pt x="0" y="181951"/>
                    <a:pt x="0" y="406400"/>
                  </a:cubicBezTo>
                  <a:cubicBezTo>
                    <a:pt x="0" y="630849"/>
                    <a:pt x="185350" y="812800"/>
                    <a:pt x="413992" y="812800"/>
                  </a:cubicBezTo>
                  <a:cubicBezTo>
                    <a:pt x="642633" y="812800"/>
                    <a:pt x="827983" y="630849"/>
                    <a:pt x="827983" y="406400"/>
                  </a:cubicBezTo>
                  <a:cubicBezTo>
                    <a:pt x="827983" y="181951"/>
                    <a:pt x="642633" y="0"/>
                    <a:pt x="413992" y="0"/>
                  </a:cubicBezTo>
                  <a:close/>
                </a:path>
              </a:pathLst>
            </a:custGeom>
            <a:solidFill>
              <a:srgbClr val="3EDAD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7623" y="28575"/>
              <a:ext cx="67273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249444" y="6346450"/>
            <a:ext cx="810158" cy="795302"/>
            <a:chOff x="0" y="0"/>
            <a:chExt cx="827983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7983" cy="812800"/>
            </a:xfrm>
            <a:custGeom>
              <a:avLst/>
              <a:gdLst/>
              <a:ahLst/>
              <a:cxnLst/>
              <a:rect r="r" b="b" t="t" l="l"/>
              <a:pathLst>
                <a:path h="812800" w="827983">
                  <a:moveTo>
                    <a:pt x="413992" y="0"/>
                  </a:moveTo>
                  <a:cubicBezTo>
                    <a:pt x="185350" y="0"/>
                    <a:pt x="0" y="181951"/>
                    <a:pt x="0" y="406400"/>
                  </a:cubicBezTo>
                  <a:cubicBezTo>
                    <a:pt x="0" y="630849"/>
                    <a:pt x="185350" y="812800"/>
                    <a:pt x="413992" y="812800"/>
                  </a:cubicBezTo>
                  <a:cubicBezTo>
                    <a:pt x="642633" y="812800"/>
                    <a:pt x="827983" y="630849"/>
                    <a:pt x="827983" y="406400"/>
                  </a:cubicBezTo>
                  <a:cubicBezTo>
                    <a:pt x="827983" y="181951"/>
                    <a:pt x="642633" y="0"/>
                    <a:pt x="413992" y="0"/>
                  </a:cubicBezTo>
                  <a:close/>
                </a:path>
              </a:pathLst>
            </a:custGeom>
            <a:solidFill>
              <a:srgbClr val="37C9E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7623" y="28575"/>
              <a:ext cx="67273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210013" y="9384210"/>
            <a:ext cx="810158" cy="795302"/>
            <a:chOff x="0" y="0"/>
            <a:chExt cx="827983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7983" cy="812800"/>
            </a:xfrm>
            <a:custGeom>
              <a:avLst/>
              <a:gdLst/>
              <a:ahLst/>
              <a:cxnLst/>
              <a:rect r="r" b="b" t="t" l="l"/>
              <a:pathLst>
                <a:path h="812800" w="827983">
                  <a:moveTo>
                    <a:pt x="413992" y="0"/>
                  </a:moveTo>
                  <a:cubicBezTo>
                    <a:pt x="185350" y="0"/>
                    <a:pt x="0" y="181951"/>
                    <a:pt x="0" y="406400"/>
                  </a:cubicBezTo>
                  <a:cubicBezTo>
                    <a:pt x="0" y="630849"/>
                    <a:pt x="185350" y="812800"/>
                    <a:pt x="413992" y="812800"/>
                  </a:cubicBezTo>
                  <a:cubicBezTo>
                    <a:pt x="642633" y="812800"/>
                    <a:pt x="827983" y="630849"/>
                    <a:pt x="827983" y="406400"/>
                  </a:cubicBezTo>
                  <a:cubicBezTo>
                    <a:pt x="827983" y="181951"/>
                    <a:pt x="642633" y="0"/>
                    <a:pt x="413992" y="0"/>
                  </a:cubicBez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7623" y="28575"/>
              <a:ext cx="67273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2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3860415" y="4397030"/>
            <a:ext cx="596267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b="true" sz="2400" spc="48">
                <a:solidFill>
                  <a:srgbClr val="000000"/>
                </a:solidFill>
                <a:latin typeface="Cabin Bold"/>
                <a:ea typeface="Cabin Bold"/>
                <a:cs typeface="Cabin Bold"/>
                <a:sym typeface="Cabin Bold"/>
              </a:rPr>
              <a:t>Kết quả &amp; Hạn chế</a:t>
            </a:r>
          </a:p>
        </p:txBody>
      </p:sp>
      <p:sp>
        <p:nvSpPr>
          <p:cNvPr name="AutoShape 31" id="31"/>
          <p:cNvSpPr/>
          <p:nvPr/>
        </p:nvSpPr>
        <p:spPr>
          <a:xfrm>
            <a:off x="1028700" y="8993015"/>
            <a:ext cx="15813054" cy="0"/>
          </a:xfrm>
          <a:prstGeom prst="line">
            <a:avLst/>
          </a:prstGeom>
          <a:ln cap="flat" w="3810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1089701" y="8465727"/>
            <a:ext cx="767365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bin Bold"/>
                <a:ea typeface="Cabin Bold"/>
                <a:cs typeface="Cabin Bold"/>
                <a:sym typeface="Cabin Bold"/>
              </a:rPr>
              <a:t>ĐỀ TÀI: XÂY DỰNG WEBSITE BÁN NỘI THẤT VĂN PHÒNG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9650"/>
            <a:ext cx="3751141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b="true" sz="6000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BỐI CẢNH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779841" y="1955673"/>
            <a:ext cx="12338622" cy="7620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95400" indent="-647700" lvl="1">
              <a:lnSpc>
                <a:spcPts val="8160"/>
              </a:lnSpc>
              <a:buFont typeface="Arial"/>
              <a:buChar char="•"/>
            </a:pPr>
            <a:r>
              <a:rPr lang="en-US" sz="6000">
                <a:solidFill>
                  <a:srgbClr val="3EDAD8"/>
                </a:solidFill>
                <a:latin typeface="Quicksand"/>
                <a:ea typeface="Quicksand"/>
                <a:cs typeface="Quicksand"/>
                <a:sym typeface="Quicksand"/>
              </a:rPr>
              <a:t>Thương mại điện tử phát triển mạnh sau COVID-19</a:t>
            </a:r>
          </a:p>
          <a:p>
            <a:pPr algn="l" marL="1295400" indent="-647700" lvl="1">
              <a:lnSpc>
                <a:spcPts val="8160"/>
              </a:lnSpc>
              <a:buFont typeface="Arial"/>
              <a:buChar char="•"/>
            </a:pPr>
            <a:r>
              <a:rPr lang="en-US" sz="6000">
                <a:solidFill>
                  <a:srgbClr val="3EDAD8"/>
                </a:solidFill>
                <a:latin typeface="Quicksand"/>
                <a:ea typeface="Quicksand"/>
                <a:cs typeface="Quicksand"/>
                <a:sym typeface="Quicksand"/>
              </a:rPr>
              <a:t>Nhu cầu mua nội thất văn phòng online tăng cao</a:t>
            </a:r>
          </a:p>
          <a:p>
            <a:pPr algn="l" marL="1295400" indent="-647700" lvl="1">
              <a:lnSpc>
                <a:spcPts val="8160"/>
              </a:lnSpc>
              <a:buFont typeface="Arial"/>
              <a:buChar char="•"/>
            </a:pPr>
            <a:r>
              <a:rPr lang="en-US" sz="6000">
                <a:solidFill>
                  <a:srgbClr val="3EDAD8"/>
                </a:solidFill>
                <a:latin typeface="Quicksand"/>
                <a:ea typeface="Quicksand"/>
                <a:cs typeface="Quicksand"/>
                <a:sym typeface="Quicksand"/>
              </a:rPr>
              <a:t>Người dùng cần tìm kiếm – so sánh – tư vấn thông minh</a:t>
            </a:r>
          </a:p>
          <a:p>
            <a:pPr algn="l">
              <a:lnSpc>
                <a:spcPts val="8160"/>
              </a:lnSpc>
            </a:pPr>
          </a:p>
          <a:p>
            <a:pPr algn="l">
              <a:lnSpc>
                <a:spcPts val="3264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619266" y="9705975"/>
            <a:ext cx="15813054" cy="0"/>
          </a:xfrm>
          <a:prstGeom prst="line">
            <a:avLst/>
          </a:prstGeom>
          <a:ln cap="flat" w="3810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619266" y="9210675"/>
            <a:ext cx="767365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bin Bold"/>
                <a:ea typeface="Cabin Bold"/>
                <a:cs typeface="Cabin Bold"/>
                <a:sym typeface="Cabin Bold"/>
              </a:rPr>
              <a:t>ĐỀ TÀI: XÂY DỰNG WEBSITE BÁN NỘI THẤT VĂN PHÒNG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13169" y="1404479"/>
            <a:ext cx="1668254" cy="1668254"/>
          </a:xfrm>
          <a:custGeom>
            <a:avLst/>
            <a:gdLst/>
            <a:ahLst/>
            <a:cxnLst/>
            <a:rect r="r" b="b" t="t" l="l"/>
            <a:pathLst>
              <a:path h="1668254" w="1668254">
                <a:moveTo>
                  <a:pt x="0" y="0"/>
                </a:moveTo>
                <a:lnTo>
                  <a:pt x="1668254" y="0"/>
                </a:lnTo>
                <a:lnTo>
                  <a:pt x="1668254" y="1668254"/>
                </a:lnTo>
                <a:lnTo>
                  <a:pt x="0" y="1668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28903" y="4275529"/>
            <a:ext cx="1668254" cy="1668254"/>
          </a:xfrm>
          <a:custGeom>
            <a:avLst/>
            <a:gdLst/>
            <a:ahLst/>
            <a:cxnLst/>
            <a:rect r="r" b="b" t="t" l="l"/>
            <a:pathLst>
              <a:path h="1668254" w="1668254">
                <a:moveTo>
                  <a:pt x="0" y="0"/>
                </a:moveTo>
                <a:lnTo>
                  <a:pt x="1668254" y="0"/>
                </a:lnTo>
                <a:lnTo>
                  <a:pt x="1668254" y="1668253"/>
                </a:lnTo>
                <a:lnTo>
                  <a:pt x="0" y="166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13169" y="7143932"/>
            <a:ext cx="1783988" cy="1783988"/>
          </a:xfrm>
          <a:custGeom>
            <a:avLst/>
            <a:gdLst/>
            <a:ahLst/>
            <a:cxnLst/>
            <a:rect r="r" b="b" t="t" l="l"/>
            <a:pathLst>
              <a:path h="1783988" w="1783988">
                <a:moveTo>
                  <a:pt x="0" y="0"/>
                </a:moveTo>
                <a:lnTo>
                  <a:pt x="1783988" y="0"/>
                </a:lnTo>
                <a:lnTo>
                  <a:pt x="1783988" y="1783988"/>
                </a:lnTo>
                <a:lnTo>
                  <a:pt x="0" y="1783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921654"/>
            <a:ext cx="5325126" cy="186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b="true" sz="6000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ĐỐI TƯỢNG SỬ DỤNG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20898" y="1852154"/>
            <a:ext cx="5325126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b="true" sz="6000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KHÁCH HÀNG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20898" y="4723204"/>
            <a:ext cx="5325126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b="true" sz="6000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QUẢN LÝ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20898" y="7595944"/>
            <a:ext cx="5325126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b="true" sz="6000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NHÂN VIÊN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59034" y="2375218"/>
            <a:ext cx="1436785" cy="1436785"/>
          </a:xfrm>
          <a:custGeom>
            <a:avLst/>
            <a:gdLst/>
            <a:ahLst/>
            <a:cxnLst/>
            <a:rect r="r" b="b" t="t" l="l"/>
            <a:pathLst>
              <a:path h="1436785" w="1436785">
                <a:moveTo>
                  <a:pt x="0" y="0"/>
                </a:moveTo>
                <a:lnTo>
                  <a:pt x="1436785" y="0"/>
                </a:lnTo>
                <a:lnTo>
                  <a:pt x="1436785" y="1436785"/>
                </a:lnTo>
                <a:lnTo>
                  <a:pt x="0" y="14367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70608" y="477956"/>
            <a:ext cx="1425212" cy="1425212"/>
          </a:xfrm>
          <a:custGeom>
            <a:avLst/>
            <a:gdLst/>
            <a:ahLst/>
            <a:cxnLst/>
            <a:rect r="r" b="b" t="t" l="l"/>
            <a:pathLst>
              <a:path h="1425212" w="1425212">
                <a:moveTo>
                  <a:pt x="0" y="0"/>
                </a:moveTo>
                <a:lnTo>
                  <a:pt x="1425211" y="0"/>
                </a:lnTo>
                <a:lnTo>
                  <a:pt x="1425211" y="1425211"/>
                </a:lnTo>
                <a:lnTo>
                  <a:pt x="0" y="1425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59034" y="4288253"/>
            <a:ext cx="1425212" cy="1425212"/>
          </a:xfrm>
          <a:custGeom>
            <a:avLst/>
            <a:gdLst/>
            <a:ahLst/>
            <a:cxnLst/>
            <a:rect r="r" b="b" t="t" l="l"/>
            <a:pathLst>
              <a:path h="1425212" w="1425212">
                <a:moveTo>
                  <a:pt x="0" y="0"/>
                </a:moveTo>
                <a:lnTo>
                  <a:pt x="1425212" y="0"/>
                </a:lnTo>
                <a:lnTo>
                  <a:pt x="1425212" y="1425211"/>
                </a:lnTo>
                <a:lnTo>
                  <a:pt x="0" y="1425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82181" y="6189714"/>
            <a:ext cx="1426455" cy="1426455"/>
          </a:xfrm>
          <a:custGeom>
            <a:avLst/>
            <a:gdLst/>
            <a:ahLst/>
            <a:cxnLst/>
            <a:rect r="r" b="b" t="t" l="l"/>
            <a:pathLst>
              <a:path h="1426455" w="1426455">
                <a:moveTo>
                  <a:pt x="0" y="0"/>
                </a:moveTo>
                <a:lnTo>
                  <a:pt x="1426455" y="0"/>
                </a:lnTo>
                <a:lnTo>
                  <a:pt x="1426455" y="1426455"/>
                </a:lnTo>
                <a:lnTo>
                  <a:pt x="0" y="1426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82181" y="8092419"/>
            <a:ext cx="1426455" cy="1426455"/>
          </a:xfrm>
          <a:custGeom>
            <a:avLst/>
            <a:gdLst/>
            <a:ahLst/>
            <a:cxnLst/>
            <a:rect r="r" b="b" t="t" l="l"/>
            <a:pathLst>
              <a:path h="1426455" w="1426455">
                <a:moveTo>
                  <a:pt x="0" y="0"/>
                </a:moveTo>
                <a:lnTo>
                  <a:pt x="1426455" y="0"/>
                </a:lnTo>
                <a:lnTo>
                  <a:pt x="1426455" y="1426455"/>
                </a:lnTo>
                <a:lnTo>
                  <a:pt x="0" y="14264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388379"/>
            <a:ext cx="5325126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b="true" sz="6000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KHÁCH HÀNG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34385" y="716217"/>
            <a:ext cx="8311070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b="true" sz="6000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QUẢN LÍ TÀI KHOẢN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48230" y="2619265"/>
            <a:ext cx="9144356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b="true" sz="6000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MUA HÀNG TRỰC TUYẾN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4520455"/>
            <a:ext cx="9144356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0"/>
              </a:lnSpc>
            </a:pPr>
            <a:r>
              <a:rPr lang="en-US" sz="6000" b="true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QUẢN LÍ ĐƠN HÀNG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6428597"/>
            <a:ext cx="9144356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0"/>
              </a:lnSpc>
            </a:pPr>
            <a:r>
              <a:rPr lang="en-US" sz="6000" b="true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BÌNH LUẬN VÀ ĐÁNH GIÁ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7861935"/>
            <a:ext cx="9144356" cy="186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0"/>
              </a:lnSpc>
            </a:pPr>
            <a:r>
              <a:rPr lang="en-US" sz="6000" b="true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AI TƯ VẤN SẢN PHẨM TRỰC TUYẾN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43532" y="7294279"/>
            <a:ext cx="1160266" cy="1160266"/>
          </a:xfrm>
          <a:custGeom>
            <a:avLst/>
            <a:gdLst/>
            <a:ahLst/>
            <a:cxnLst/>
            <a:rect r="r" b="b" t="t" l="l"/>
            <a:pathLst>
              <a:path h="1160266" w="1160266">
                <a:moveTo>
                  <a:pt x="0" y="0"/>
                </a:moveTo>
                <a:lnTo>
                  <a:pt x="1160266" y="0"/>
                </a:lnTo>
                <a:lnTo>
                  <a:pt x="1160266" y="1160266"/>
                </a:lnTo>
                <a:lnTo>
                  <a:pt x="0" y="11602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326286"/>
            <a:ext cx="1169591" cy="1169591"/>
          </a:xfrm>
          <a:custGeom>
            <a:avLst/>
            <a:gdLst/>
            <a:ahLst/>
            <a:cxnLst/>
            <a:rect r="r" b="b" t="t" l="l"/>
            <a:pathLst>
              <a:path h="1169591" w="1169591">
                <a:moveTo>
                  <a:pt x="0" y="0"/>
                </a:moveTo>
                <a:lnTo>
                  <a:pt x="1169591" y="0"/>
                </a:lnTo>
                <a:lnTo>
                  <a:pt x="1169591" y="1169592"/>
                </a:lnTo>
                <a:lnTo>
                  <a:pt x="0" y="11695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775445" y="5362908"/>
            <a:ext cx="1165881" cy="1165881"/>
          </a:xfrm>
          <a:custGeom>
            <a:avLst/>
            <a:gdLst/>
            <a:ahLst/>
            <a:cxnLst/>
            <a:rect r="r" b="b" t="t" l="l"/>
            <a:pathLst>
              <a:path h="1165881" w="1165881">
                <a:moveTo>
                  <a:pt x="0" y="0"/>
                </a:moveTo>
                <a:lnTo>
                  <a:pt x="1165881" y="0"/>
                </a:lnTo>
                <a:lnTo>
                  <a:pt x="1165881" y="1165881"/>
                </a:lnTo>
                <a:lnTo>
                  <a:pt x="0" y="11658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0842" y="2943553"/>
            <a:ext cx="1147449" cy="1147449"/>
          </a:xfrm>
          <a:custGeom>
            <a:avLst/>
            <a:gdLst/>
            <a:ahLst/>
            <a:cxnLst/>
            <a:rect r="r" b="b" t="t" l="l"/>
            <a:pathLst>
              <a:path h="1147449" w="1147449">
                <a:moveTo>
                  <a:pt x="0" y="0"/>
                </a:moveTo>
                <a:lnTo>
                  <a:pt x="1147449" y="0"/>
                </a:lnTo>
                <a:lnTo>
                  <a:pt x="1147449" y="1147449"/>
                </a:lnTo>
                <a:lnTo>
                  <a:pt x="0" y="11474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4538677"/>
            <a:ext cx="1160266" cy="1160266"/>
          </a:xfrm>
          <a:custGeom>
            <a:avLst/>
            <a:gdLst/>
            <a:ahLst/>
            <a:cxnLst/>
            <a:rect r="r" b="b" t="t" l="l"/>
            <a:pathLst>
              <a:path h="1160266" w="1160266">
                <a:moveTo>
                  <a:pt x="0" y="0"/>
                </a:moveTo>
                <a:lnTo>
                  <a:pt x="1160266" y="0"/>
                </a:lnTo>
                <a:lnTo>
                  <a:pt x="1160266" y="1160266"/>
                </a:lnTo>
                <a:lnTo>
                  <a:pt x="0" y="1160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77654" y="6251393"/>
            <a:ext cx="1159023" cy="1159023"/>
          </a:xfrm>
          <a:custGeom>
            <a:avLst/>
            <a:gdLst/>
            <a:ahLst/>
            <a:cxnLst/>
            <a:rect r="r" b="b" t="t" l="l"/>
            <a:pathLst>
              <a:path h="1159023" w="1159023">
                <a:moveTo>
                  <a:pt x="0" y="0"/>
                </a:moveTo>
                <a:lnTo>
                  <a:pt x="1159023" y="0"/>
                </a:lnTo>
                <a:lnTo>
                  <a:pt x="1159023" y="1159023"/>
                </a:lnTo>
                <a:lnTo>
                  <a:pt x="0" y="11590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56755" y="7828503"/>
            <a:ext cx="1132211" cy="1132211"/>
          </a:xfrm>
          <a:custGeom>
            <a:avLst/>
            <a:gdLst/>
            <a:ahLst/>
            <a:cxnLst/>
            <a:rect r="r" b="b" t="t" l="l"/>
            <a:pathLst>
              <a:path h="1132211" w="1132211">
                <a:moveTo>
                  <a:pt x="0" y="0"/>
                </a:moveTo>
                <a:lnTo>
                  <a:pt x="1132211" y="0"/>
                </a:lnTo>
                <a:lnTo>
                  <a:pt x="1132211" y="1132211"/>
                </a:lnTo>
                <a:lnTo>
                  <a:pt x="0" y="1132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743532" y="2151431"/>
            <a:ext cx="1160266" cy="1160266"/>
          </a:xfrm>
          <a:custGeom>
            <a:avLst/>
            <a:gdLst/>
            <a:ahLst/>
            <a:cxnLst/>
            <a:rect r="r" b="b" t="t" l="l"/>
            <a:pathLst>
              <a:path h="1160266" w="1160266">
                <a:moveTo>
                  <a:pt x="0" y="0"/>
                </a:moveTo>
                <a:lnTo>
                  <a:pt x="1160266" y="0"/>
                </a:lnTo>
                <a:lnTo>
                  <a:pt x="1160266" y="1160266"/>
                </a:lnTo>
                <a:lnTo>
                  <a:pt x="0" y="1160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743532" y="3764073"/>
            <a:ext cx="1169591" cy="1169591"/>
          </a:xfrm>
          <a:custGeom>
            <a:avLst/>
            <a:gdLst/>
            <a:ahLst/>
            <a:cxnLst/>
            <a:rect r="r" b="b" t="t" l="l"/>
            <a:pathLst>
              <a:path h="1169591" w="1169591">
                <a:moveTo>
                  <a:pt x="0" y="0"/>
                </a:moveTo>
                <a:lnTo>
                  <a:pt x="1169591" y="0"/>
                </a:lnTo>
                <a:lnTo>
                  <a:pt x="1169591" y="1169592"/>
                </a:lnTo>
                <a:lnTo>
                  <a:pt x="0" y="11695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418406" y="4150303"/>
            <a:ext cx="5325126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b="true" sz="6000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QUẢN LÍ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88837" y="7971437"/>
            <a:ext cx="4155535" cy="48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6"/>
              </a:lnSpc>
            </a:pPr>
            <a:r>
              <a:rPr lang="en-US" sz="3200" b="true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QUẢN LÍ TÀI KHOẢN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98291" y="1911082"/>
            <a:ext cx="4155535" cy="48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6"/>
              </a:lnSpc>
            </a:pPr>
            <a:r>
              <a:rPr lang="en-US" sz="3200" b="true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QUẢN LÍ ĐƠN HÀNG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88966" y="3607894"/>
            <a:ext cx="4456444" cy="48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6"/>
              </a:lnSpc>
            </a:pPr>
            <a:r>
              <a:rPr lang="en-US" sz="3200" b="true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QUẢN LÍ KHUYẾN MÃI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8966" y="5215835"/>
            <a:ext cx="4456444" cy="48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6"/>
              </a:lnSpc>
            </a:pPr>
            <a:r>
              <a:rPr lang="en-US" sz="3200" b="true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QUẢN LÍ SẢN PHẨM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09865" y="6908618"/>
            <a:ext cx="4813869" cy="48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6"/>
              </a:lnSpc>
            </a:pPr>
            <a:r>
              <a:rPr lang="en-US" sz="3200" b="true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QUẢN LÍ THƯƠNG HIỆU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36677" y="8394608"/>
            <a:ext cx="4813869" cy="48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6"/>
              </a:lnSpc>
            </a:pPr>
            <a:r>
              <a:rPr lang="en-US" sz="3200" b="true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QUẢN LÍ DANH MỤC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13290" y="2339385"/>
            <a:ext cx="4155535" cy="978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6"/>
              </a:lnSpc>
            </a:pPr>
            <a:r>
              <a:rPr lang="en-US" sz="3200" b="true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QUẢN LÍ BIẾN THỂ SẢN PHẨM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88837" y="4101219"/>
            <a:ext cx="4155535" cy="48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6"/>
              </a:lnSpc>
            </a:pPr>
            <a:r>
              <a:rPr lang="en-US" sz="3200" b="true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XEM DASHBOARD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13290" y="5556477"/>
            <a:ext cx="4155535" cy="978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6"/>
              </a:lnSpc>
            </a:pPr>
            <a:r>
              <a:rPr lang="en-US" sz="3200" b="true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AI HỔ TRỢ LUẬT KINH DOANH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62838" y="0"/>
            <a:ext cx="7162324" cy="10287000"/>
          </a:xfrm>
          <a:custGeom>
            <a:avLst/>
            <a:gdLst/>
            <a:ahLst/>
            <a:cxnLst/>
            <a:rect r="r" b="b" t="t" l="l"/>
            <a:pathLst>
              <a:path h="10287000" w="7162324">
                <a:moveTo>
                  <a:pt x="0" y="0"/>
                </a:moveTo>
                <a:lnTo>
                  <a:pt x="7162324" y="0"/>
                </a:lnTo>
                <a:lnTo>
                  <a:pt x="716232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5447" y="1353032"/>
            <a:ext cx="16917107" cy="8570110"/>
          </a:xfrm>
          <a:custGeom>
            <a:avLst/>
            <a:gdLst/>
            <a:ahLst/>
            <a:cxnLst/>
            <a:rect r="r" b="b" t="t" l="l"/>
            <a:pathLst>
              <a:path h="8570110" w="16917107">
                <a:moveTo>
                  <a:pt x="0" y="0"/>
                </a:moveTo>
                <a:lnTo>
                  <a:pt x="16917106" y="0"/>
                </a:lnTo>
                <a:lnTo>
                  <a:pt x="16917106" y="8570110"/>
                </a:lnTo>
                <a:lnTo>
                  <a:pt x="0" y="8570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02" r="0" b="-118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5447" y="99060"/>
            <a:ext cx="17157178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b="true" sz="6000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TỔNG QUAN HỆ THỐNG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64998" y="2622582"/>
            <a:ext cx="14558004" cy="6150757"/>
          </a:xfrm>
          <a:custGeom>
            <a:avLst/>
            <a:gdLst/>
            <a:ahLst/>
            <a:cxnLst/>
            <a:rect r="r" b="b" t="t" l="l"/>
            <a:pathLst>
              <a:path h="6150757" w="14558004">
                <a:moveTo>
                  <a:pt x="0" y="0"/>
                </a:moveTo>
                <a:lnTo>
                  <a:pt x="14558004" y="0"/>
                </a:lnTo>
                <a:lnTo>
                  <a:pt x="14558004" y="6150757"/>
                </a:lnTo>
                <a:lnTo>
                  <a:pt x="0" y="61507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6880" y="3009116"/>
            <a:ext cx="3086100" cy="968741"/>
            <a:chOff x="0" y="0"/>
            <a:chExt cx="812800" cy="2551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55142"/>
            </a:xfrm>
            <a:custGeom>
              <a:avLst/>
              <a:gdLst/>
              <a:ahLst/>
              <a:cxnLst/>
              <a:rect r="r" b="b" t="t" l="l"/>
              <a:pathLst>
                <a:path h="255142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212495"/>
                  </a:lnTo>
                  <a:cubicBezTo>
                    <a:pt x="812800" y="223806"/>
                    <a:pt x="808307" y="234653"/>
                    <a:pt x="800309" y="242651"/>
                  </a:cubicBezTo>
                  <a:cubicBezTo>
                    <a:pt x="792311" y="250649"/>
                    <a:pt x="781464" y="255142"/>
                    <a:pt x="770153" y="255142"/>
                  </a:cubicBezTo>
                  <a:lnTo>
                    <a:pt x="42647" y="255142"/>
                  </a:lnTo>
                  <a:cubicBezTo>
                    <a:pt x="31336" y="255142"/>
                    <a:pt x="20489" y="250649"/>
                    <a:pt x="12491" y="242651"/>
                  </a:cubicBezTo>
                  <a:cubicBezTo>
                    <a:pt x="4493" y="234653"/>
                    <a:pt x="0" y="223806"/>
                    <a:pt x="0" y="212495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74CB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293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FRONT-END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28270" y="3009116"/>
            <a:ext cx="3086100" cy="968741"/>
            <a:chOff x="0" y="0"/>
            <a:chExt cx="812800" cy="2551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255142"/>
            </a:xfrm>
            <a:custGeom>
              <a:avLst/>
              <a:gdLst/>
              <a:ahLst/>
              <a:cxnLst/>
              <a:rect r="r" b="b" t="t" l="l"/>
              <a:pathLst>
                <a:path h="255142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212495"/>
                  </a:lnTo>
                  <a:cubicBezTo>
                    <a:pt x="812800" y="223806"/>
                    <a:pt x="808307" y="234653"/>
                    <a:pt x="800309" y="242651"/>
                  </a:cubicBezTo>
                  <a:cubicBezTo>
                    <a:pt x="792311" y="250649"/>
                    <a:pt x="781464" y="255142"/>
                    <a:pt x="770153" y="255142"/>
                  </a:cubicBezTo>
                  <a:lnTo>
                    <a:pt x="42647" y="255142"/>
                  </a:lnTo>
                  <a:cubicBezTo>
                    <a:pt x="31336" y="255142"/>
                    <a:pt x="20489" y="250649"/>
                    <a:pt x="12491" y="242651"/>
                  </a:cubicBezTo>
                  <a:cubicBezTo>
                    <a:pt x="4493" y="234653"/>
                    <a:pt x="0" y="223806"/>
                    <a:pt x="0" y="212495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74CB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293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BACK-END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71645" y="3009116"/>
            <a:ext cx="3086100" cy="968741"/>
            <a:chOff x="0" y="0"/>
            <a:chExt cx="812800" cy="2551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255142"/>
            </a:xfrm>
            <a:custGeom>
              <a:avLst/>
              <a:gdLst/>
              <a:ahLst/>
              <a:cxnLst/>
              <a:rect r="r" b="b" t="t" l="l"/>
              <a:pathLst>
                <a:path h="255142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212495"/>
                  </a:lnTo>
                  <a:cubicBezTo>
                    <a:pt x="812800" y="223806"/>
                    <a:pt x="808307" y="234653"/>
                    <a:pt x="800309" y="242651"/>
                  </a:cubicBezTo>
                  <a:cubicBezTo>
                    <a:pt x="792311" y="250649"/>
                    <a:pt x="781464" y="255142"/>
                    <a:pt x="770153" y="255142"/>
                  </a:cubicBezTo>
                  <a:lnTo>
                    <a:pt x="42647" y="255142"/>
                  </a:lnTo>
                  <a:cubicBezTo>
                    <a:pt x="31336" y="255142"/>
                    <a:pt x="20489" y="250649"/>
                    <a:pt x="12491" y="242651"/>
                  </a:cubicBezTo>
                  <a:cubicBezTo>
                    <a:pt x="4493" y="234653"/>
                    <a:pt x="0" y="223806"/>
                    <a:pt x="0" y="212495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74CBF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293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STORAGE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15020" y="3009116"/>
            <a:ext cx="3086100" cy="968741"/>
            <a:chOff x="0" y="0"/>
            <a:chExt cx="812800" cy="2551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255142"/>
            </a:xfrm>
            <a:custGeom>
              <a:avLst/>
              <a:gdLst/>
              <a:ahLst/>
              <a:cxnLst/>
              <a:rect r="r" b="b" t="t" l="l"/>
              <a:pathLst>
                <a:path h="255142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212495"/>
                  </a:lnTo>
                  <a:cubicBezTo>
                    <a:pt x="812800" y="223806"/>
                    <a:pt x="808307" y="234653"/>
                    <a:pt x="800309" y="242651"/>
                  </a:cubicBezTo>
                  <a:cubicBezTo>
                    <a:pt x="792311" y="250649"/>
                    <a:pt x="781464" y="255142"/>
                    <a:pt x="770153" y="255142"/>
                  </a:cubicBezTo>
                  <a:lnTo>
                    <a:pt x="42647" y="255142"/>
                  </a:lnTo>
                  <a:cubicBezTo>
                    <a:pt x="31336" y="255142"/>
                    <a:pt x="20489" y="250649"/>
                    <a:pt x="12491" y="242651"/>
                  </a:cubicBezTo>
                  <a:cubicBezTo>
                    <a:pt x="4493" y="234653"/>
                    <a:pt x="0" y="223806"/>
                    <a:pt x="0" y="212495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74CB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293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THIRD- PARTY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86880" y="4592366"/>
            <a:ext cx="3086100" cy="4497672"/>
            <a:chOff x="0" y="0"/>
            <a:chExt cx="812800" cy="11845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1184572"/>
            </a:xfrm>
            <a:custGeom>
              <a:avLst/>
              <a:gdLst/>
              <a:ahLst/>
              <a:cxnLst/>
              <a:rect r="r" b="b" t="t" l="l"/>
              <a:pathLst>
                <a:path h="1184572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141925"/>
                  </a:lnTo>
                  <a:cubicBezTo>
                    <a:pt x="812800" y="1165478"/>
                    <a:pt x="793706" y="1184572"/>
                    <a:pt x="770153" y="1184572"/>
                  </a:cubicBezTo>
                  <a:lnTo>
                    <a:pt x="42647" y="1184572"/>
                  </a:lnTo>
                  <a:cubicBezTo>
                    <a:pt x="31336" y="1184572"/>
                    <a:pt x="20489" y="1180079"/>
                    <a:pt x="12491" y="1172081"/>
                  </a:cubicBezTo>
                  <a:cubicBezTo>
                    <a:pt x="4493" y="1164083"/>
                    <a:pt x="0" y="1153236"/>
                    <a:pt x="0" y="1141925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0F3F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12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Ant design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528270" y="4654132"/>
            <a:ext cx="3086100" cy="4435906"/>
            <a:chOff x="0" y="0"/>
            <a:chExt cx="812800" cy="11683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1168305"/>
            </a:xfrm>
            <a:custGeom>
              <a:avLst/>
              <a:gdLst/>
              <a:ahLst/>
              <a:cxnLst/>
              <a:rect r="r" b="b" t="t" l="l"/>
              <a:pathLst>
                <a:path h="1168305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125658"/>
                  </a:lnTo>
                  <a:cubicBezTo>
                    <a:pt x="812800" y="1136968"/>
                    <a:pt x="808307" y="1147816"/>
                    <a:pt x="800309" y="1155814"/>
                  </a:cubicBezTo>
                  <a:cubicBezTo>
                    <a:pt x="792311" y="1163811"/>
                    <a:pt x="781464" y="1168305"/>
                    <a:pt x="770153" y="1168305"/>
                  </a:cubicBezTo>
                  <a:lnTo>
                    <a:pt x="42647" y="1168305"/>
                  </a:lnTo>
                  <a:cubicBezTo>
                    <a:pt x="19094" y="1168305"/>
                    <a:pt x="0" y="1149211"/>
                    <a:pt x="0" y="1125658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0F3F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120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71645" y="4654132"/>
            <a:ext cx="3086100" cy="4435906"/>
            <a:chOff x="0" y="0"/>
            <a:chExt cx="812800" cy="116830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1168305"/>
            </a:xfrm>
            <a:custGeom>
              <a:avLst/>
              <a:gdLst/>
              <a:ahLst/>
              <a:cxnLst/>
              <a:rect r="r" b="b" t="t" l="l"/>
              <a:pathLst>
                <a:path h="1168305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125658"/>
                  </a:lnTo>
                  <a:cubicBezTo>
                    <a:pt x="812800" y="1136968"/>
                    <a:pt x="808307" y="1147816"/>
                    <a:pt x="800309" y="1155814"/>
                  </a:cubicBezTo>
                  <a:cubicBezTo>
                    <a:pt x="792311" y="1163811"/>
                    <a:pt x="781464" y="1168305"/>
                    <a:pt x="770153" y="1168305"/>
                  </a:cubicBezTo>
                  <a:lnTo>
                    <a:pt x="42647" y="1168305"/>
                  </a:lnTo>
                  <a:cubicBezTo>
                    <a:pt x="19094" y="1168305"/>
                    <a:pt x="0" y="1149211"/>
                    <a:pt x="0" y="1125658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0F3F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12800" cy="120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815020" y="4654132"/>
            <a:ext cx="3086100" cy="4435906"/>
            <a:chOff x="0" y="0"/>
            <a:chExt cx="812800" cy="11683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1168305"/>
            </a:xfrm>
            <a:custGeom>
              <a:avLst/>
              <a:gdLst/>
              <a:ahLst/>
              <a:cxnLst/>
              <a:rect r="r" b="b" t="t" l="l"/>
              <a:pathLst>
                <a:path h="1168305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125658"/>
                  </a:lnTo>
                  <a:cubicBezTo>
                    <a:pt x="812800" y="1136968"/>
                    <a:pt x="808307" y="1147816"/>
                    <a:pt x="800309" y="1155814"/>
                  </a:cubicBezTo>
                  <a:cubicBezTo>
                    <a:pt x="792311" y="1163811"/>
                    <a:pt x="781464" y="1168305"/>
                    <a:pt x="770153" y="1168305"/>
                  </a:cubicBezTo>
                  <a:lnTo>
                    <a:pt x="42647" y="1168305"/>
                  </a:lnTo>
                  <a:cubicBezTo>
                    <a:pt x="19094" y="1168305"/>
                    <a:pt x="0" y="1149211"/>
                    <a:pt x="0" y="1125658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0F3F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12800" cy="120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2444306" y="4791403"/>
            <a:ext cx="971248" cy="971248"/>
          </a:xfrm>
          <a:custGeom>
            <a:avLst/>
            <a:gdLst/>
            <a:ahLst/>
            <a:cxnLst/>
            <a:rect r="r" b="b" t="t" l="l"/>
            <a:pathLst>
              <a:path h="971248" w="971248">
                <a:moveTo>
                  <a:pt x="0" y="0"/>
                </a:moveTo>
                <a:lnTo>
                  <a:pt x="971248" y="0"/>
                </a:lnTo>
                <a:lnTo>
                  <a:pt x="971248" y="971248"/>
                </a:lnTo>
                <a:lnTo>
                  <a:pt x="0" y="971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585696" y="4791403"/>
            <a:ext cx="971248" cy="971248"/>
          </a:xfrm>
          <a:custGeom>
            <a:avLst/>
            <a:gdLst/>
            <a:ahLst/>
            <a:cxnLst/>
            <a:rect r="r" b="b" t="t" l="l"/>
            <a:pathLst>
              <a:path h="971248" w="971248">
                <a:moveTo>
                  <a:pt x="0" y="0"/>
                </a:moveTo>
                <a:lnTo>
                  <a:pt x="971248" y="0"/>
                </a:lnTo>
                <a:lnTo>
                  <a:pt x="971248" y="971248"/>
                </a:lnTo>
                <a:lnTo>
                  <a:pt x="0" y="971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729071" y="4791403"/>
            <a:ext cx="971248" cy="971248"/>
          </a:xfrm>
          <a:custGeom>
            <a:avLst/>
            <a:gdLst/>
            <a:ahLst/>
            <a:cxnLst/>
            <a:rect r="r" b="b" t="t" l="l"/>
            <a:pathLst>
              <a:path h="971248" w="971248">
                <a:moveTo>
                  <a:pt x="0" y="0"/>
                </a:moveTo>
                <a:lnTo>
                  <a:pt x="971248" y="0"/>
                </a:lnTo>
                <a:lnTo>
                  <a:pt x="971248" y="971248"/>
                </a:lnTo>
                <a:lnTo>
                  <a:pt x="0" y="9712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729071" y="6813385"/>
            <a:ext cx="971248" cy="971248"/>
          </a:xfrm>
          <a:custGeom>
            <a:avLst/>
            <a:gdLst/>
            <a:ahLst/>
            <a:cxnLst/>
            <a:rect r="r" b="b" t="t" l="l"/>
            <a:pathLst>
              <a:path h="971248" w="971248">
                <a:moveTo>
                  <a:pt x="0" y="0"/>
                </a:moveTo>
                <a:lnTo>
                  <a:pt x="971248" y="0"/>
                </a:lnTo>
                <a:lnTo>
                  <a:pt x="971248" y="971248"/>
                </a:lnTo>
                <a:lnTo>
                  <a:pt x="0" y="9712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137724" y="4803926"/>
            <a:ext cx="2034900" cy="679148"/>
          </a:xfrm>
          <a:custGeom>
            <a:avLst/>
            <a:gdLst/>
            <a:ahLst/>
            <a:cxnLst/>
            <a:rect r="r" b="b" t="t" l="l"/>
            <a:pathLst>
              <a:path h="679148" w="2034900">
                <a:moveTo>
                  <a:pt x="0" y="0"/>
                </a:moveTo>
                <a:lnTo>
                  <a:pt x="2034899" y="0"/>
                </a:lnTo>
                <a:lnTo>
                  <a:pt x="2034899" y="679148"/>
                </a:lnTo>
                <a:lnTo>
                  <a:pt x="0" y="6791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137724" y="5896168"/>
            <a:ext cx="2276607" cy="725668"/>
          </a:xfrm>
          <a:custGeom>
            <a:avLst/>
            <a:gdLst/>
            <a:ahLst/>
            <a:cxnLst/>
            <a:rect r="r" b="b" t="t" l="l"/>
            <a:pathLst>
              <a:path h="725668" w="2276607">
                <a:moveTo>
                  <a:pt x="0" y="0"/>
                </a:moveTo>
                <a:lnTo>
                  <a:pt x="2276606" y="0"/>
                </a:lnTo>
                <a:lnTo>
                  <a:pt x="2276606" y="725668"/>
                </a:lnTo>
                <a:lnTo>
                  <a:pt x="0" y="7256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266458" y="6768151"/>
            <a:ext cx="2183225" cy="1061716"/>
          </a:xfrm>
          <a:custGeom>
            <a:avLst/>
            <a:gdLst/>
            <a:ahLst/>
            <a:cxnLst/>
            <a:rect r="r" b="b" t="t" l="l"/>
            <a:pathLst>
              <a:path h="1061716" w="2183225">
                <a:moveTo>
                  <a:pt x="0" y="0"/>
                </a:moveTo>
                <a:lnTo>
                  <a:pt x="2183225" y="0"/>
                </a:lnTo>
                <a:lnTo>
                  <a:pt x="2183225" y="1061716"/>
                </a:lnTo>
                <a:lnTo>
                  <a:pt x="0" y="10617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5455" t="-54448" r="-37425" b="-45519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4266458" y="7829867"/>
            <a:ext cx="2183225" cy="1064155"/>
          </a:xfrm>
          <a:custGeom>
            <a:avLst/>
            <a:gdLst/>
            <a:ahLst/>
            <a:cxnLst/>
            <a:rect r="r" b="b" t="t" l="l"/>
            <a:pathLst>
              <a:path h="1064155" w="2183225">
                <a:moveTo>
                  <a:pt x="0" y="0"/>
                </a:moveTo>
                <a:lnTo>
                  <a:pt x="2183225" y="0"/>
                </a:lnTo>
                <a:lnTo>
                  <a:pt x="2183225" y="1064156"/>
                </a:lnTo>
                <a:lnTo>
                  <a:pt x="0" y="10641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3884" r="0" b="-13884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585696" y="6671287"/>
            <a:ext cx="971399" cy="971399"/>
          </a:xfrm>
          <a:custGeom>
            <a:avLst/>
            <a:gdLst/>
            <a:ahLst/>
            <a:cxnLst/>
            <a:rect r="r" b="b" t="t" l="l"/>
            <a:pathLst>
              <a:path h="971399" w="971399">
                <a:moveTo>
                  <a:pt x="0" y="0"/>
                </a:moveTo>
                <a:lnTo>
                  <a:pt x="971399" y="0"/>
                </a:lnTo>
                <a:lnTo>
                  <a:pt x="971399" y="971399"/>
                </a:lnTo>
                <a:lnTo>
                  <a:pt x="0" y="9713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4266458" y="8758535"/>
            <a:ext cx="1591423" cy="1528465"/>
          </a:xfrm>
          <a:custGeom>
            <a:avLst/>
            <a:gdLst/>
            <a:ahLst/>
            <a:cxnLst/>
            <a:rect r="r" b="b" t="t" l="l"/>
            <a:pathLst>
              <a:path h="1528465" w="1591423">
                <a:moveTo>
                  <a:pt x="0" y="0"/>
                </a:moveTo>
                <a:lnTo>
                  <a:pt x="1591423" y="0"/>
                </a:lnTo>
                <a:lnTo>
                  <a:pt x="1591423" y="1528465"/>
                </a:lnTo>
                <a:lnTo>
                  <a:pt x="0" y="152846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2059" r="0" b="-2059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4682553" y="1403460"/>
            <a:ext cx="8453476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b="true" sz="6000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CÔNG NGHỆ SỬ DỤNG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869301" y="5965802"/>
            <a:ext cx="2121257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ReactJS + Vite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528270" y="5965802"/>
            <a:ext cx="30861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NodeJS+ Express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671645" y="5965802"/>
            <a:ext cx="30861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MySQL Database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671645" y="7745796"/>
            <a:ext cx="3086100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Chroma Vector Database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529262" y="7842711"/>
            <a:ext cx="30861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Python + FastAPI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93786" y="1275792"/>
            <a:ext cx="1095433" cy="1260068"/>
            <a:chOff x="0" y="0"/>
            <a:chExt cx="288509" cy="3318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8509" cy="331870"/>
            </a:xfrm>
            <a:custGeom>
              <a:avLst/>
              <a:gdLst/>
              <a:ahLst/>
              <a:cxnLst/>
              <a:rect r="r" b="b" t="t" l="l"/>
              <a:pathLst>
                <a:path h="331870" w="288509">
                  <a:moveTo>
                    <a:pt x="120147" y="0"/>
                  </a:moveTo>
                  <a:lnTo>
                    <a:pt x="168362" y="0"/>
                  </a:lnTo>
                  <a:cubicBezTo>
                    <a:pt x="234717" y="0"/>
                    <a:pt x="288509" y="53792"/>
                    <a:pt x="288509" y="120147"/>
                  </a:cubicBezTo>
                  <a:lnTo>
                    <a:pt x="288509" y="211723"/>
                  </a:lnTo>
                  <a:cubicBezTo>
                    <a:pt x="288509" y="243588"/>
                    <a:pt x="275851" y="274148"/>
                    <a:pt x="253319" y="296680"/>
                  </a:cubicBezTo>
                  <a:cubicBezTo>
                    <a:pt x="230787" y="319212"/>
                    <a:pt x="200227" y="331870"/>
                    <a:pt x="168362" y="331870"/>
                  </a:cubicBezTo>
                  <a:lnTo>
                    <a:pt x="120147" y="331870"/>
                  </a:lnTo>
                  <a:cubicBezTo>
                    <a:pt x="88282" y="331870"/>
                    <a:pt x="57722" y="319212"/>
                    <a:pt x="35190" y="296680"/>
                  </a:cubicBezTo>
                  <a:cubicBezTo>
                    <a:pt x="12658" y="274148"/>
                    <a:pt x="0" y="243588"/>
                    <a:pt x="0" y="211723"/>
                  </a:cubicBezTo>
                  <a:lnTo>
                    <a:pt x="0" y="120147"/>
                  </a:lnTo>
                  <a:cubicBezTo>
                    <a:pt x="0" y="88282"/>
                    <a:pt x="12658" y="57722"/>
                    <a:pt x="35190" y="35190"/>
                  </a:cubicBezTo>
                  <a:cubicBezTo>
                    <a:pt x="57722" y="12658"/>
                    <a:pt x="88282" y="0"/>
                    <a:pt x="120147" y="0"/>
                  </a:cubicBezTo>
                  <a:close/>
                </a:path>
              </a:pathLst>
            </a:custGeom>
            <a:solidFill>
              <a:srgbClr val="74CB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288509" cy="465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Bungee"/>
                  <a:ea typeface="Bungee"/>
                  <a:cs typeface="Bungee"/>
                  <a:sym typeface="Bungee"/>
                </a:rPr>
                <a:t>1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9060"/>
            <a:ext cx="16230600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b="true" sz="6000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KẾT QUẢ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70189" y="1460056"/>
            <a:ext cx="4239003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Hoàn thiện website thương mại điện tử nội thất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93786" y="2637952"/>
            <a:ext cx="5344929" cy="251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Xây dựng đầy đủ luồng: xem sản phẩm → chi tiết → giỏ hàng → đặt hàng → theo dõi đơn.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Giao diện thân thiện, tối ưu trải nghiệm mua sắm.</a:t>
            </a: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2093786" y="5627913"/>
            <a:ext cx="1095433" cy="1260068"/>
            <a:chOff x="0" y="0"/>
            <a:chExt cx="288509" cy="3318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8509" cy="331870"/>
            </a:xfrm>
            <a:custGeom>
              <a:avLst/>
              <a:gdLst/>
              <a:ahLst/>
              <a:cxnLst/>
              <a:rect r="r" b="b" t="t" l="l"/>
              <a:pathLst>
                <a:path h="331870" w="288509">
                  <a:moveTo>
                    <a:pt x="120147" y="0"/>
                  </a:moveTo>
                  <a:lnTo>
                    <a:pt x="168362" y="0"/>
                  </a:lnTo>
                  <a:cubicBezTo>
                    <a:pt x="234717" y="0"/>
                    <a:pt x="288509" y="53792"/>
                    <a:pt x="288509" y="120147"/>
                  </a:cubicBezTo>
                  <a:lnTo>
                    <a:pt x="288509" y="211723"/>
                  </a:lnTo>
                  <a:cubicBezTo>
                    <a:pt x="288509" y="243588"/>
                    <a:pt x="275851" y="274148"/>
                    <a:pt x="253319" y="296680"/>
                  </a:cubicBezTo>
                  <a:cubicBezTo>
                    <a:pt x="230787" y="319212"/>
                    <a:pt x="200227" y="331870"/>
                    <a:pt x="168362" y="331870"/>
                  </a:cubicBezTo>
                  <a:lnTo>
                    <a:pt x="120147" y="331870"/>
                  </a:lnTo>
                  <a:cubicBezTo>
                    <a:pt x="88282" y="331870"/>
                    <a:pt x="57722" y="319212"/>
                    <a:pt x="35190" y="296680"/>
                  </a:cubicBezTo>
                  <a:cubicBezTo>
                    <a:pt x="12658" y="274148"/>
                    <a:pt x="0" y="243588"/>
                    <a:pt x="0" y="211723"/>
                  </a:cubicBezTo>
                  <a:lnTo>
                    <a:pt x="0" y="120147"/>
                  </a:lnTo>
                  <a:cubicBezTo>
                    <a:pt x="0" y="88282"/>
                    <a:pt x="12658" y="57722"/>
                    <a:pt x="35190" y="35190"/>
                  </a:cubicBezTo>
                  <a:cubicBezTo>
                    <a:pt x="57722" y="12658"/>
                    <a:pt x="88282" y="0"/>
                    <a:pt x="120147" y="0"/>
                  </a:cubicBezTo>
                  <a:close/>
                </a:path>
              </a:pathLst>
            </a:custGeom>
            <a:solidFill>
              <a:srgbClr val="74CBF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33350"/>
              <a:ext cx="288509" cy="465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Bungee"/>
                  <a:ea typeface="Bungee"/>
                  <a:cs typeface="Bungee"/>
                  <a:sym typeface="Bungee"/>
                </a:rPr>
                <a:t>2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370189" y="5812177"/>
            <a:ext cx="4239003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Tích hợp thanh toán &amp; thông tin chuyển khoản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93786" y="6990072"/>
            <a:ext cx="5344929" cy="292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Giao dịch: Tích hợp thanh toán thực (Bảo mật &amp; Chính xác).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Email: Tự động hóa thông báo và đối soát đơn hàng.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Hạn chế s</a:t>
            </a: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ai sót khi đặt hàng và tăng tính tin cậy với khách.</a:t>
            </a: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0737514" y="1275792"/>
            <a:ext cx="1095433" cy="1260068"/>
            <a:chOff x="0" y="0"/>
            <a:chExt cx="288509" cy="3318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509" cy="331870"/>
            </a:xfrm>
            <a:custGeom>
              <a:avLst/>
              <a:gdLst/>
              <a:ahLst/>
              <a:cxnLst/>
              <a:rect r="r" b="b" t="t" l="l"/>
              <a:pathLst>
                <a:path h="331870" w="288509">
                  <a:moveTo>
                    <a:pt x="120147" y="0"/>
                  </a:moveTo>
                  <a:lnTo>
                    <a:pt x="168362" y="0"/>
                  </a:lnTo>
                  <a:cubicBezTo>
                    <a:pt x="234717" y="0"/>
                    <a:pt x="288509" y="53792"/>
                    <a:pt x="288509" y="120147"/>
                  </a:cubicBezTo>
                  <a:lnTo>
                    <a:pt x="288509" y="211723"/>
                  </a:lnTo>
                  <a:cubicBezTo>
                    <a:pt x="288509" y="243588"/>
                    <a:pt x="275851" y="274148"/>
                    <a:pt x="253319" y="296680"/>
                  </a:cubicBezTo>
                  <a:cubicBezTo>
                    <a:pt x="230787" y="319212"/>
                    <a:pt x="200227" y="331870"/>
                    <a:pt x="168362" y="331870"/>
                  </a:cubicBezTo>
                  <a:lnTo>
                    <a:pt x="120147" y="331870"/>
                  </a:lnTo>
                  <a:cubicBezTo>
                    <a:pt x="88282" y="331870"/>
                    <a:pt x="57722" y="319212"/>
                    <a:pt x="35190" y="296680"/>
                  </a:cubicBezTo>
                  <a:cubicBezTo>
                    <a:pt x="12658" y="274148"/>
                    <a:pt x="0" y="243588"/>
                    <a:pt x="0" y="211723"/>
                  </a:cubicBezTo>
                  <a:lnTo>
                    <a:pt x="0" y="120147"/>
                  </a:lnTo>
                  <a:cubicBezTo>
                    <a:pt x="0" y="88282"/>
                    <a:pt x="12658" y="57722"/>
                    <a:pt x="35190" y="35190"/>
                  </a:cubicBezTo>
                  <a:cubicBezTo>
                    <a:pt x="57722" y="12658"/>
                    <a:pt x="88282" y="0"/>
                    <a:pt x="120147" y="0"/>
                  </a:cubicBezTo>
                  <a:close/>
                </a:path>
              </a:pathLst>
            </a:custGeom>
            <a:solidFill>
              <a:srgbClr val="74CBF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33350"/>
              <a:ext cx="288509" cy="465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Bungee"/>
                  <a:ea typeface="Bungee"/>
                  <a:cs typeface="Bungee"/>
                  <a:sym typeface="Bungee"/>
                </a:rPr>
                <a:t>3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013916" y="1460056"/>
            <a:ext cx="4239003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Chatbot tư vấn khách hàng (AI) tích hợp vào web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37514" y="2637952"/>
            <a:ext cx="5344929" cy="418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Tư vấn sản phẩm theo nhu cầu/budget, hỗ trợ hỏi đáp follow-up (màu/giá/chi tiết).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G</a:t>
            </a: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ợi ý sản phẩm kèm link, giúp khách ra quyết định nhanh hơn.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Cho phép người dùng upload ảnh để tìm sản phẩm tương tự trong hệ thống.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10737514" y="6195108"/>
            <a:ext cx="1095433" cy="1260068"/>
            <a:chOff x="0" y="0"/>
            <a:chExt cx="288509" cy="3318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8509" cy="331870"/>
            </a:xfrm>
            <a:custGeom>
              <a:avLst/>
              <a:gdLst/>
              <a:ahLst/>
              <a:cxnLst/>
              <a:rect r="r" b="b" t="t" l="l"/>
              <a:pathLst>
                <a:path h="331870" w="288509">
                  <a:moveTo>
                    <a:pt x="120147" y="0"/>
                  </a:moveTo>
                  <a:lnTo>
                    <a:pt x="168362" y="0"/>
                  </a:lnTo>
                  <a:cubicBezTo>
                    <a:pt x="234717" y="0"/>
                    <a:pt x="288509" y="53792"/>
                    <a:pt x="288509" y="120147"/>
                  </a:cubicBezTo>
                  <a:lnTo>
                    <a:pt x="288509" y="211723"/>
                  </a:lnTo>
                  <a:cubicBezTo>
                    <a:pt x="288509" y="243588"/>
                    <a:pt x="275851" y="274148"/>
                    <a:pt x="253319" y="296680"/>
                  </a:cubicBezTo>
                  <a:cubicBezTo>
                    <a:pt x="230787" y="319212"/>
                    <a:pt x="200227" y="331870"/>
                    <a:pt x="168362" y="331870"/>
                  </a:cubicBezTo>
                  <a:lnTo>
                    <a:pt x="120147" y="331870"/>
                  </a:lnTo>
                  <a:cubicBezTo>
                    <a:pt x="88282" y="331870"/>
                    <a:pt x="57722" y="319212"/>
                    <a:pt x="35190" y="296680"/>
                  </a:cubicBezTo>
                  <a:cubicBezTo>
                    <a:pt x="12658" y="274148"/>
                    <a:pt x="0" y="243588"/>
                    <a:pt x="0" y="211723"/>
                  </a:cubicBezTo>
                  <a:lnTo>
                    <a:pt x="0" y="120147"/>
                  </a:lnTo>
                  <a:cubicBezTo>
                    <a:pt x="0" y="88282"/>
                    <a:pt x="12658" y="57722"/>
                    <a:pt x="35190" y="35190"/>
                  </a:cubicBezTo>
                  <a:cubicBezTo>
                    <a:pt x="57722" y="12658"/>
                    <a:pt x="88282" y="0"/>
                    <a:pt x="120147" y="0"/>
                  </a:cubicBezTo>
                  <a:close/>
                </a:path>
              </a:pathLst>
            </a:custGeom>
            <a:solidFill>
              <a:srgbClr val="74CBF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33350"/>
              <a:ext cx="288509" cy="465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Bungee"/>
                  <a:ea typeface="Bungee"/>
                  <a:cs typeface="Bungee"/>
                  <a:sym typeface="Bungee"/>
                </a:rPr>
                <a:t>4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013916" y="6379372"/>
            <a:ext cx="4239003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Trang quản trị &amp; hỗ trợ nghiệp vụ nội bộ (Admin)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37514" y="7557267"/>
            <a:ext cx="5344929" cy="251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Quản lý dữ liệu hệ thống (sản phẩm/đơn hàng/khách hàng).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Hỗ trợ admin: tính thuế nhanh (PIT/CIT) và tra cứu pháp lý theo kho văn bản (RAG).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2093786" y="9624687"/>
            <a:ext cx="797718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quản lý tài khoản vs bình luận đánh giá mk có cần ghi k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136" y="1501034"/>
            <a:ext cx="1095433" cy="1260068"/>
            <a:chOff x="0" y="0"/>
            <a:chExt cx="288509" cy="3318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8509" cy="331870"/>
            </a:xfrm>
            <a:custGeom>
              <a:avLst/>
              <a:gdLst/>
              <a:ahLst/>
              <a:cxnLst/>
              <a:rect r="r" b="b" t="t" l="l"/>
              <a:pathLst>
                <a:path h="331870" w="288509">
                  <a:moveTo>
                    <a:pt x="120147" y="0"/>
                  </a:moveTo>
                  <a:lnTo>
                    <a:pt x="168362" y="0"/>
                  </a:lnTo>
                  <a:cubicBezTo>
                    <a:pt x="234717" y="0"/>
                    <a:pt x="288509" y="53792"/>
                    <a:pt x="288509" y="120147"/>
                  </a:cubicBezTo>
                  <a:lnTo>
                    <a:pt x="288509" y="211723"/>
                  </a:lnTo>
                  <a:cubicBezTo>
                    <a:pt x="288509" y="243588"/>
                    <a:pt x="275851" y="274148"/>
                    <a:pt x="253319" y="296680"/>
                  </a:cubicBezTo>
                  <a:cubicBezTo>
                    <a:pt x="230787" y="319212"/>
                    <a:pt x="200227" y="331870"/>
                    <a:pt x="168362" y="331870"/>
                  </a:cubicBezTo>
                  <a:lnTo>
                    <a:pt x="120147" y="331870"/>
                  </a:lnTo>
                  <a:cubicBezTo>
                    <a:pt x="88282" y="331870"/>
                    <a:pt x="57722" y="319212"/>
                    <a:pt x="35190" y="296680"/>
                  </a:cubicBezTo>
                  <a:cubicBezTo>
                    <a:pt x="12658" y="274148"/>
                    <a:pt x="0" y="243588"/>
                    <a:pt x="0" y="211723"/>
                  </a:cubicBezTo>
                  <a:lnTo>
                    <a:pt x="0" y="120147"/>
                  </a:lnTo>
                  <a:cubicBezTo>
                    <a:pt x="0" y="88282"/>
                    <a:pt x="12658" y="57722"/>
                    <a:pt x="35190" y="35190"/>
                  </a:cubicBezTo>
                  <a:cubicBezTo>
                    <a:pt x="57722" y="12658"/>
                    <a:pt x="88282" y="0"/>
                    <a:pt x="120147" y="0"/>
                  </a:cubicBezTo>
                  <a:close/>
                </a:path>
              </a:pathLst>
            </a:custGeom>
            <a:solidFill>
              <a:srgbClr val="74CB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288509" cy="465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Bungee"/>
                  <a:ea typeface="Bungee"/>
                  <a:cs typeface="Bungee"/>
                  <a:sym typeface="Bungee"/>
                </a:rPr>
                <a:t>1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9060"/>
            <a:ext cx="16230600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b="true" sz="6000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HẠN CHẾ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42538" y="1685298"/>
            <a:ext cx="4239003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Tìm kiếm theo ảnh chưa đảm bảo “trúng đúng 100%”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136" y="2863194"/>
            <a:ext cx="5344929" cy="292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Image Understanding theo hướng “ảnh → mô tả → tìm tương tự” có thể trả “gần giống” thay vì “đúng y”, nhất là khi ảnh thiếu chữ hoặc background phức tạp.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580898" y="5701901"/>
            <a:ext cx="1095433" cy="1260068"/>
            <a:chOff x="0" y="0"/>
            <a:chExt cx="288509" cy="3318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8509" cy="331870"/>
            </a:xfrm>
            <a:custGeom>
              <a:avLst/>
              <a:gdLst/>
              <a:ahLst/>
              <a:cxnLst/>
              <a:rect r="r" b="b" t="t" l="l"/>
              <a:pathLst>
                <a:path h="331870" w="288509">
                  <a:moveTo>
                    <a:pt x="120147" y="0"/>
                  </a:moveTo>
                  <a:lnTo>
                    <a:pt x="168362" y="0"/>
                  </a:lnTo>
                  <a:cubicBezTo>
                    <a:pt x="234717" y="0"/>
                    <a:pt x="288509" y="53792"/>
                    <a:pt x="288509" y="120147"/>
                  </a:cubicBezTo>
                  <a:lnTo>
                    <a:pt x="288509" y="211723"/>
                  </a:lnTo>
                  <a:cubicBezTo>
                    <a:pt x="288509" y="243588"/>
                    <a:pt x="275851" y="274148"/>
                    <a:pt x="253319" y="296680"/>
                  </a:cubicBezTo>
                  <a:cubicBezTo>
                    <a:pt x="230787" y="319212"/>
                    <a:pt x="200227" y="331870"/>
                    <a:pt x="168362" y="331870"/>
                  </a:cubicBezTo>
                  <a:lnTo>
                    <a:pt x="120147" y="331870"/>
                  </a:lnTo>
                  <a:cubicBezTo>
                    <a:pt x="88282" y="331870"/>
                    <a:pt x="57722" y="319212"/>
                    <a:pt x="35190" y="296680"/>
                  </a:cubicBezTo>
                  <a:cubicBezTo>
                    <a:pt x="12658" y="274148"/>
                    <a:pt x="0" y="243588"/>
                    <a:pt x="0" y="211723"/>
                  </a:cubicBezTo>
                  <a:lnTo>
                    <a:pt x="0" y="120147"/>
                  </a:lnTo>
                  <a:cubicBezTo>
                    <a:pt x="0" y="88282"/>
                    <a:pt x="12658" y="57722"/>
                    <a:pt x="35190" y="35190"/>
                  </a:cubicBezTo>
                  <a:cubicBezTo>
                    <a:pt x="57722" y="12658"/>
                    <a:pt x="88282" y="0"/>
                    <a:pt x="120147" y="0"/>
                  </a:cubicBezTo>
                  <a:close/>
                </a:path>
              </a:pathLst>
            </a:custGeom>
            <a:solidFill>
              <a:srgbClr val="74CBF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33350"/>
              <a:ext cx="288509" cy="465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Bungee"/>
                  <a:ea typeface="Bungee"/>
                  <a:cs typeface="Bungee"/>
                  <a:sym typeface="Bungee"/>
                </a:rPr>
                <a:t>2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857300" y="5886166"/>
            <a:ext cx="4239003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Chatbot chưa tư vấn theo combo/set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0898" y="7064061"/>
            <a:ext cx="5344929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Hiện bot chủ yếu trả danh sách sản phẩm, chưa đóng vai “tư vấn setup văn phòng” theo ngân sách, số người, diện tích và style.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362517" y="1501034"/>
            <a:ext cx="1095433" cy="1260068"/>
            <a:chOff x="0" y="0"/>
            <a:chExt cx="288509" cy="3318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509" cy="331870"/>
            </a:xfrm>
            <a:custGeom>
              <a:avLst/>
              <a:gdLst/>
              <a:ahLst/>
              <a:cxnLst/>
              <a:rect r="r" b="b" t="t" l="l"/>
              <a:pathLst>
                <a:path h="331870" w="288509">
                  <a:moveTo>
                    <a:pt x="120147" y="0"/>
                  </a:moveTo>
                  <a:lnTo>
                    <a:pt x="168362" y="0"/>
                  </a:lnTo>
                  <a:cubicBezTo>
                    <a:pt x="234717" y="0"/>
                    <a:pt x="288509" y="53792"/>
                    <a:pt x="288509" y="120147"/>
                  </a:cubicBezTo>
                  <a:lnTo>
                    <a:pt x="288509" y="211723"/>
                  </a:lnTo>
                  <a:cubicBezTo>
                    <a:pt x="288509" y="243588"/>
                    <a:pt x="275851" y="274148"/>
                    <a:pt x="253319" y="296680"/>
                  </a:cubicBezTo>
                  <a:cubicBezTo>
                    <a:pt x="230787" y="319212"/>
                    <a:pt x="200227" y="331870"/>
                    <a:pt x="168362" y="331870"/>
                  </a:cubicBezTo>
                  <a:lnTo>
                    <a:pt x="120147" y="331870"/>
                  </a:lnTo>
                  <a:cubicBezTo>
                    <a:pt x="88282" y="331870"/>
                    <a:pt x="57722" y="319212"/>
                    <a:pt x="35190" y="296680"/>
                  </a:cubicBezTo>
                  <a:cubicBezTo>
                    <a:pt x="12658" y="274148"/>
                    <a:pt x="0" y="243588"/>
                    <a:pt x="0" y="211723"/>
                  </a:cubicBezTo>
                  <a:lnTo>
                    <a:pt x="0" y="120147"/>
                  </a:lnTo>
                  <a:cubicBezTo>
                    <a:pt x="0" y="88282"/>
                    <a:pt x="12658" y="57722"/>
                    <a:pt x="35190" y="35190"/>
                  </a:cubicBezTo>
                  <a:cubicBezTo>
                    <a:pt x="57722" y="12658"/>
                    <a:pt x="88282" y="0"/>
                    <a:pt x="120147" y="0"/>
                  </a:cubicBezTo>
                  <a:close/>
                </a:path>
              </a:pathLst>
            </a:custGeom>
            <a:solidFill>
              <a:srgbClr val="74CBF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33350"/>
              <a:ext cx="288509" cy="465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Bungee"/>
                  <a:ea typeface="Bungee"/>
                  <a:cs typeface="Bungee"/>
                  <a:sym typeface="Bungee"/>
                </a:rPr>
                <a:t>3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638919" y="1685298"/>
            <a:ext cx="4239003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Phần admin/law phụ thuộc kho văn bản đã ingest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62517" y="2863194"/>
            <a:ext cx="5344929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Legal RAG trả lời tốt trong phạm vi đã lưu trữ; câu hỏi ngoài phạm vi sẽ “no-hit” (đúng an toàn nhưng hạn chế trải nghiệm).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29413" y="9201150"/>
            <a:ext cx="4239003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Chưa có xác thực hai lớp (2FA)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53010" y="8328481"/>
            <a:ext cx="1095433" cy="1260068"/>
            <a:chOff x="0" y="0"/>
            <a:chExt cx="288509" cy="3318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8509" cy="331870"/>
            </a:xfrm>
            <a:custGeom>
              <a:avLst/>
              <a:gdLst/>
              <a:ahLst/>
              <a:cxnLst/>
              <a:rect r="r" b="b" t="t" l="l"/>
              <a:pathLst>
                <a:path h="331870" w="288509">
                  <a:moveTo>
                    <a:pt x="120147" y="0"/>
                  </a:moveTo>
                  <a:lnTo>
                    <a:pt x="168362" y="0"/>
                  </a:lnTo>
                  <a:cubicBezTo>
                    <a:pt x="234717" y="0"/>
                    <a:pt x="288509" y="53792"/>
                    <a:pt x="288509" y="120147"/>
                  </a:cubicBezTo>
                  <a:lnTo>
                    <a:pt x="288509" y="211723"/>
                  </a:lnTo>
                  <a:cubicBezTo>
                    <a:pt x="288509" y="243588"/>
                    <a:pt x="275851" y="274148"/>
                    <a:pt x="253319" y="296680"/>
                  </a:cubicBezTo>
                  <a:cubicBezTo>
                    <a:pt x="230787" y="319212"/>
                    <a:pt x="200227" y="331870"/>
                    <a:pt x="168362" y="331870"/>
                  </a:cubicBezTo>
                  <a:lnTo>
                    <a:pt x="120147" y="331870"/>
                  </a:lnTo>
                  <a:cubicBezTo>
                    <a:pt x="88282" y="331870"/>
                    <a:pt x="57722" y="319212"/>
                    <a:pt x="35190" y="296680"/>
                  </a:cubicBezTo>
                  <a:cubicBezTo>
                    <a:pt x="12658" y="274148"/>
                    <a:pt x="0" y="243588"/>
                    <a:pt x="0" y="211723"/>
                  </a:cubicBezTo>
                  <a:lnTo>
                    <a:pt x="0" y="120147"/>
                  </a:lnTo>
                  <a:cubicBezTo>
                    <a:pt x="0" y="88282"/>
                    <a:pt x="12658" y="57722"/>
                    <a:pt x="35190" y="35190"/>
                  </a:cubicBezTo>
                  <a:cubicBezTo>
                    <a:pt x="57722" y="12658"/>
                    <a:pt x="88282" y="0"/>
                    <a:pt x="120147" y="0"/>
                  </a:cubicBezTo>
                  <a:close/>
                </a:path>
              </a:pathLst>
            </a:custGeom>
            <a:solidFill>
              <a:srgbClr val="74CBF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33350"/>
              <a:ext cx="288509" cy="465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Bungee"/>
                  <a:ea typeface="Bungee"/>
                  <a:cs typeface="Bungee"/>
                  <a:sym typeface="Bungee"/>
                </a:rPr>
                <a:t>8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329413" y="8722295"/>
            <a:ext cx="423900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Xác thực tài khoản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181542" y="8328481"/>
            <a:ext cx="1059489" cy="1260068"/>
            <a:chOff x="0" y="0"/>
            <a:chExt cx="279042" cy="3318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9042" cy="331870"/>
            </a:xfrm>
            <a:custGeom>
              <a:avLst/>
              <a:gdLst/>
              <a:ahLst/>
              <a:cxnLst/>
              <a:rect r="r" b="b" t="t" l="l"/>
              <a:pathLst>
                <a:path h="331870" w="279042">
                  <a:moveTo>
                    <a:pt x="124223" y="0"/>
                  </a:moveTo>
                  <a:lnTo>
                    <a:pt x="154819" y="0"/>
                  </a:lnTo>
                  <a:cubicBezTo>
                    <a:pt x="187765" y="0"/>
                    <a:pt x="219362" y="13088"/>
                    <a:pt x="242658" y="36384"/>
                  </a:cubicBezTo>
                  <a:cubicBezTo>
                    <a:pt x="265955" y="59680"/>
                    <a:pt x="279042" y="91277"/>
                    <a:pt x="279042" y="124223"/>
                  </a:cubicBezTo>
                  <a:lnTo>
                    <a:pt x="279042" y="207647"/>
                  </a:lnTo>
                  <a:cubicBezTo>
                    <a:pt x="279042" y="276253"/>
                    <a:pt x="223426" y="331870"/>
                    <a:pt x="154819" y="331870"/>
                  </a:cubicBezTo>
                  <a:lnTo>
                    <a:pt x="124223" y="331870"/>
                  </a:lnTo>
                  <a:cubicBezTo>
                    <a:pt x="91277" y="331870"/>
                    <a:pt x="59680" y="318782"/>
                    <a:pt x="36384" y="295486"/>
                  </a:cubicBezTo>
                  <a:cubicBezTo>
                    <a:pt x="13088" y="272189"/>
                    <a:pt x="0" y="240593"/>
                    <a:pt x="0" y="207647"/>
                  </a:cubicBezTo>
                  <a:lnTo>
                    <a:pt x="0" y="124223"/>
                  </a:lnTo>
                  <a:cubicBezTo>
                    <a:pt x="0" y="91277"/>
                    <a:pt x="13088" y="59680"/>
                    <a:pt x="36384" y="36384"/>
                  </a:cubicBezTo>
                  <a:cubicBezTo>
                    <a:pt x="59680" y="13088"/>
                    <a:pt x="91277" y="0"/>
                    <a:pt x="124223" y="0"/>
                  </a:cubicBezTo>
                  <a:close/>
                </a:path>
              </a:pathLst>
            </a:custGeom>
            <a:solidFill>
              <a:srgbClr val="74CBF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33350"/>
              <a:ext cx="279042" cy="465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Bungee"/>
                  <a:ea typeface="Bungee"/>
                  <a:cs typeface="Bungee"/>
                  <a:sym typeface="Bungee"/>
                </a:rPr>
                <a:t>5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416062" y="8722295"/>
            <a:ext cx="409991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Thiếu đề xuất cá nhân hóa theo sở thích người dùng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77922" y="2923027"/>
            <a:ext cx="5381378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API GHN </a:t>
            </a: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hiện chỉ dừng ở tính phí vận chuyển, chưa tự động tạo đơn, lưu mã vận đơn và hiển thị tracking cho khách.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877922" y="1501034"/>
            <a:ext cx="1095433" cy="1260068"/>
            <a:chOff x="0" y="0"/>
            <a:chExt cx="288509" cy="33187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8509" cy="331870"/>
            </a:xfrm>
            <a:custGeom>
              <a:avLst/>
              <a:gdLst/>
              <a:ahLst/>
              <a:cxnLst/>
              <a:rect r="r" b="b" t="t" l="l"/>
              <a:pathLst>
                <a:path h="331870" w="288509">
                  <a:moveTo>
                    <a:pt x="120147" y="0"/>
                  </a:moveTo>
                  <a:lnTo>
                    <a:pt x="168362" y="0"/>
                  </a:lnTo>
                  <a:cubicBezTo>
                    <a:pt x="234717" y="0"/>
                    <a:pt x="288509" y="53792"/>
                    <a:pt x="288509" y="120147"/>
                  </a:cubicBezTo>
                  <a:lnTo>
                    <a:pt x="288509" y="211723"/>
                  </a:lnTo>
                  <a:cubicBezTo>
                    <a:pt x="288509" y="243588"/>
                    <a:pt x="275851" y="274148"/>
                    <a:pt x="253319" y="296680"/>
                  </a:cubicBezTo>
                  <a:cubicBezTo>
                    <a:pt x="230787" y="319212"/>
                    <a:pt x="200227" y="331870"/>
                    <a:pt x="168362" y="331870"/>
                  </a:cubicBezTo>
                  <a:lnTo>
                    <a:pt x="120147" y="331870"/>
                  </a:lnTo>
                  <a:cubicBezTo>
                    <a:pt x="88282" y="331870"/>
                    <a:pt x="57722" y="319212"/>
                    <a:pt x="35190" y="296680"/>
                  </a:cubicBezTo>
                  <a:cubicBezTo>
                    <a:pt x="12658" y="274148"/>
                    <a:pt x="0" y="243588"/>
                    <a:pt x="0" y="211723"/>
                  </a:cubicBezTo>
                  <a:lnTo>
                    <a:pt x="0" y="120147"/>
                  </a:lnTo>
                  <a:cubicBezTo>
                    <a:pt x="0" y="88282"/>
                    <a:pt x="12658" y="57722"/>
                    <a:pt x="35190" y="35190"/>
                  </a:cubicBezTo>
                  <a:cubicBezTo>
                    <a:pt x="57722" y="12658"/>
                    <a:pt x="88282" y="0"/>
                    <a:pt x="120147" y="0"/>
                  </a:cubicBezTo>
                  <a:close/>
                </a:path>
              </a:pathLst>
            </a:custGeom>
            <a:solidFill>
              <a:srgbClr val="74CBF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33350"/>
              <a:ext cx="288509" cy="465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Bungee"/>
                  <a:ea typeface="Bungee"/>
                  <a:cs typeface="Bungee"/>
                  <a:sym typeface="Bungee"/>
                </a:rPr>
                <a:t>6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3154324" y="1894848"/>
            <a:ext cx="4239003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Tích hợp GHN chưa hoàn chỉnh (mới tính phí)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877922" y="6493861"/>
            <a:ext cx="5381378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</a:t>
            </a: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hưa triển khai module quản lý đổi trả – bảo hành và xuất hóa đơn thanh toán, nên chưa hoàn thiện quy trình sau bán hàng.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877922" y="5071867"/>
            <a:ext cx="1095433" cy="1260068"/>
            <a:chOff x="0" y="0"/>
            <a:chExt cx="288509" cy="3318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8509" cy="331870"/>
            </a:xfrm>
            <a:custGeom>
              <a:avLst/>
              <a:gdLst/>
              <a:ahLst/>
              <a:cxnLst/>
              <a:rect r="r" b="b" t="t" l="l"/>
              <a:pathLst>
                <a:path h="331870" w="288509">
                  <a:moveTo>
                    <a:pt x="120147" y="0"/>
                  </a:moveTo>
                  <a:lnTo>
                    <a:pt x="168362" y="0"/>
                  </a:lnTo>
                  <a:cubicBezTo>
                    <a:pt x="234717" y="0"/>
                    <a:pt x="288509" y="53792"/>
                    <a:pt x="288509" y="120147"/>
                  </a:cubicBezTo>
                  <a:lnTo>
                    <a:pt x="288509" y="211723"/>
                  </a:lnTo>
                  <a:cubicBezTo>
                    <a:pt x="288509" y="243588"/>
                    <a:pt x="275851" y="274148"/>
                    <a:pt x="253319" y="296680"/>
                  </a:cubicBezTo>
                  <a:cubicBezTo>
                    <a:pt x="230787" y="319212"/>
                    <a:pt x="200227" y="331870"/>
                    <a:pt x="168362" y="331870"/>
                  </a:cubicBezTo>
                  <a:lnTo>
                    <a:pt x="120147" y="331870"/>
                  </a:lnTo>
                  <a:cubicBezTo>
                    <a:pt x="88282" y="331870"/>
                    <a:pt x="57722" y="319212"/>
                    <a:pt x="35190" y="296680"/>
                  </a:cubicBezTo>
                  <a:cubicBezTo>
                    <a:pt x="12658" y="274148"/>
                    <a:pt x="0" y="243588"/>
                    <a:pt x="0" y="211723"/>
                  </a:cubicBezTo>
                  <a:lnTo>
                    <a:pt x="0" y="120147"/>
                  </a:lnTo>
                  <a:cubicBezTo>
                    <a:pt x="0" y="88282"/>
                    <a:pt x="12658" y="57722"/>
                    <a:pt x="35190" y="35190"/>
                  </a:cubicBezTo>
                  <a:cubicBezTo>
                    <a:pt x="57722" y="12658"/>
                    <a:pt x="88282" y="0"/>
                    <a:pt x="120147" y="0"/>
                  </a:cubicBezTo>
                  <a:close/>
                </a:path>
              </a:pathLst>
            </a:custGeom>
            <a:solidFill>
              <a:srgbClr val="74CBF2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33350"/>
              <a:ext cx="288509" cy="465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Bungee"/>
                  <a:ea typeface="Bungee"/>
                  <a:cs typeface="Bungee"/>
                  <a:sym typeface="Bungee"/>
                </a:rPr>
                <a:t>7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3154324" y="5465681"/>
            <a:ext cx="4239003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Chưa có quy trình đổi trả/bảo hành &amp; xuất hóa đơn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181542" y="4813219"/>
            <a:ext cx="1095433" cy="1260068"/>
            <a:chOff x="0" y="0"/>
            <a:chExt cx="288509" cy="33187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88509" cy="331870"/>
            </a:xfrm>
            <a:custGeom>
              <a:avLst/>
              <a:gdLst/>
              <a:ahLst/>
              <a:cxnLst/>
              <a:rect r="r" b="b" t="t" l="l"/>
              <a:pathLst>
                <a:path h="331870" w="288509">
                  <a:moveTo>
                    <a:pt x="120147" y="0"/>
                  </a:moveTo>
                  <a:lnTo>
                    <a:pt x="168362" y="0"/>
                  </a:lnTo>
                  <a:cubicBezTo>
                    <a:pt x="234717" y="0"/>
                    <a:pt x="288509" y="53792"/>
                    <a:pt x="288509" y="120147"/>
                  </a:cubicBezTo>
                  <a:lnTo>
                    <a:pt x="288509" y="211723"/>
                  </a:lnTo>
                  <a:cubicBezTo>
                    <a:pt x="288509" y="243588"/>
                    <a:pt x="275851" y="274148"/>
                    <a:pt x="253319" y="296680"/>
                  </a:cubicBezTo>
                  <a:cubicBezTo>
                    <a:pt x="230787" y="319212"/>
                    <a:pt x="200227" y="331870"/>
                    <a:pt x="168362" y="331870"/>
                  </a:cubicBezTo>
                  <a:lnTo>
                    <a:pt x="120147" y="331870"/>
                  </a:lnTo>
                  <a:cubicBezTo>
                    <a:pt x="88282" y="331870"/>
                    <a:pt x="57722" y="319212"/>
                    <a:pt x="35190" y="296680"/>
                  </a:cubicBezTo>
                  <a:cubicBezTo>
                    <a:pt x="12658" y="274148"/>
                    <a:pt x="0" y="243588"/>
                    <a:pt x="0" y="211723"/>
                  </a:cubicBezTo>
                  <a:lnTo>
                    <a:pt x="0" y="120147"/>
                  </a:lnTo>
                  <a:cubicBezTo>
                    <a:pt x="0" y="88282"/>
                    <a:pt x="12658" y="57722"/>
                    <a:pt x="35190" y="35190"/>
                  </a:cubicBezTo>
                  <a:cubicBezTo>
                    <a:pt x="57722" y="12658"/>
                    <a:pt x="88282" y="0"/>
                    <a:pt x="120147" y="0"/>
                  </a:cubicBezTo>
                  <a:close/>
                </a:path>
              </a:pathLst>
            </a:custGeom>
            <a:solidFill>
              <a:srgbClr val="74CBF2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33350"/>
              <a:ext cx="288509" cy="465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FFFFFF"/>
                  </a:solidFill>
                  <a:latin typeface="Bungee"/>
                  <a:ea typeface="Bungee"/>
                  <a:cs typeface="Bungee"/>
                  <a:sym typeface="Bungee"/>
                </a:rPr>
                <a:t>4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7457944" y="5207033"/>
            <a:ext cx="4239003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Chưa phân quyền/targeting theo hành vi ở khuyến mãi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181542" y="6178062"/>
            <a:ext cx="5515405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Mới dừng ở chọn user hoặc share all, chưa có nhóm đối tượng theo nghiệp vụ: khách mới/khách VIP, khách theo lịch sử mua, ....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9060"/>
            <a:ext cx="16230600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b="true" sz="6000">
                <a:solidFill>
                  <a:srgbClr val="3EDAD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TÀI LIỆU THAM KHẢO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2478" y="1270635"/>
            <a:ext cx="17363043" cy="9190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4"/>
              </a:lnSpc>
            </a:pPr>
            <a:r>
              <a:rPr lang="en-US" sz="2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[1] Meta, “React – A JavaScript library for building user interfaces,” 2013. [Online]. Available: https://react.dev/. [Accessed: 10-2025].</a:t>
            </a:r>
          </a:p>
          <a:p>
            <a:pPr algn="l">
              <a:lnSpc>
                <a:spcPts val="3864"/>
              </a:lnSpc>
            </a:pPr>
            <a:r>
              <a:rPr lang="en-US" sz="2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[2] Vite </a:t>
            </a:r>
            <a:r>
              <a:rPr lang="en-US" sz="2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Team, “Vite – Next Generation Frontend Tooling,” [Online]. Available: https://vitejs.dev/. [Accessed: 10-2025].</a:t>
            </a:r>
          </a:p>
          <a:p>
            <a:pPr algn="l">
              <a:lnSpc>
                <a:spcPts val="3864"/>
              </a:lnSpc>
            </a:pPr>
            <a:r>
              <a:rPr lang="en-US" sz="2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[3] Ant Design Team, “Ant Design – A UI Design Language and React UI Library,” [Online]. Available: https://ant.design/. [Accessed: 10-2025].</a:t>
            </a:r>
          </a:p>
          <a:p>
            <a:pPr algn="l">
              <a:lnSpc>
                <a:spcPts val="3864"/>
              </a:lnSpc>
            </a:pPr>
            <a:r>
              <a:rPr lang="en-US" sz="2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[4] Node.js Foundation, “Node.js – JavaScript runtime built on Chrome’s V8 JavaScript engine,” [Online]. Available: https://nodejs.org/. [Accessed: 10-2025].</a:t>
            </a:r>
          </a:p>
          <a:p>
            <a:pPr algn="l">
              <a:lnSpc>
                <a:spcPts val="3864"/>
              </a:lnSpc>
            </a:pPr>
            <a:r>
              <a:rPr lang="en-US" sz="2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[5] Express.js, “Express – Fast, unopinionated, minimalist web framework for Node.js,” [Online]. Available: https://expressjs.com/. [Accessed: 12-2025].</a:t>
            </a:r>
          </a:p>
          <a:p>
            <a:pPr algn="l">
              <a:lnSpc>
                <a:spcPts val="3864"/>
              </a:lnSpc>
            </a:pPr>
            <a:r>
              <a:rPr lang="en-US" sz="2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[6] Prisma Data, Inc., “Prisma ORM – Next-generation Node.js ORM,” [Online]. Available: https://www.prisma.io/docs. [Accessed: 10-2025].</a:t>
            </a:r>
          </a:p>
          <a:p>
            <a:pPr algn="l">
              <a:lnSpc>
                <a:spcPts val="3864"/>
              </a:lnSpc>
            </a:pPr>
            <a:r>
              <a:rPr lang="en-US" sz="2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[7] Công ty Cổ phần Giải pháp Thanh toán Việt Nam (VNPay), “Tài liệu tích hợp Cổng thanh toánVNPay,” [Online]. Available: https://sandbox.vnpayment.vn/apis/docs/. [Accessed: 11-2025].</a:t>
            </a:r>
          </a:p>
          <a:p>
            <a:pPr algn="l">
              <a:lnSpc>
                <a:spcPts val="3864"/>
              </a:lnSpc>
            </a:pPr>
            <a:r>
              <a:rPr lang="en-US" sz="2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[8] Công ty Cổ phần Dịch vụ Giao Hàng Nhanh (GHN), “GHN API – Tài liệu tích hợp dịch vụ giao hàng,” [Online]. Available: https://api.ghn.vn/home/docs. [Accessed: 12-2025].</a:t>
            </a:r>
          </a:p>
          <a:p>
            <a:pPr algn="l">
              <a:lnSpc>
                <a:spcPts val="3864"/>
              </a:lnSpc>
            </a:pPr>
            <a:r>
              <a:rPr lang="en-US" sz="2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[9]Auth0, “JSON Web Tokens – Introduction,” [Online]. Available: https://jwt.io/. [Accessed: 11-2025].</a:t>
            </a:r>
          </a:p>
          <a:p>
            <a:pPr algn="l">
              <a:lnSpc>
                <a:spcPts val="3864"/>
              </a:lnSpc>
            </a:pPr>
            <a:r>
              <a:rPr lang="en-US" sz="2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[10] Socket.IO, “Socket.IO – Real-time bidirectional event-based communication,” [Online]. Available: https://socket.io/. [Accessed: 12-2025].</a:t>
            </a:r>
          </a:p>
          <a:p>
            <a:pPr algn="l">
              <a:lnSpc>
                <a:spcPts val="3864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DAG-X9pXTzk</dc:identifier>
  <dcterms:modified xsi:type="dcterms:W3CDTF">2011-08-01T06:04:30Z</dcterms:modified>
  <cp:revision>1</cp:revision>
  <dc:title>RAPPORT DE STAGE</dc:title>
</cp:coreProperties>
</file>